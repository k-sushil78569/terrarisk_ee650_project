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8229600" cy="8229600"/>
          </a:xfrm>
          <a:prstGeom prst="ellipse">
            <a:avLst/>
          </a:prstGeom>
          <a:ln w="1905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97280"/>
            <a:ext cx="6766560" cy="6766560"/>
          </a:xfrm>
          <a:prstGeom prst="ellipse">
            <a:avLst/>
          </a:prstGeom>
          <a:ln w="15875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365760"/>
            <a:ext cx="5303520" cy="5303520"/>
          </a:xfrm>
          <a:prstGeom prst="ellipse">
            <a:avLst/>
          </a:prstGeom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EE650 — Course Project Proposal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Risk-Sensitive CVaR-SMPC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Rover Navigation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High-Variance, Deformable Terrain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TerraRisk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Sivaganesh B.  •  Sushil Krishna K.  •  Ramya Rasika S. R.  •  Kanishka 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Kanpur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ways existing risk-aware planners fall short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from appearance, not mechanics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LiDAR/camera risk maps encode elevation, roughness, slope — </a:t>
            </a:r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ground looks like.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visually-identical sand patches can have very different soil cohesion — one safe, one capable of entrapment. Geometry can't tell them apart.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09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bad choice: treat ambiguous terrain as safe (misses hazards) or hazardous (needlessly avoids safe routes).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Probability, not severity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constraints bound </a:t>
            </a:r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bad event happens — not how bad it is.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429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“Sinkage exceeds threshold only 5% of the time” treats a barely-exceeded case the same as a catastrophic, irreversible entrapment.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709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hazards are heavy-tailed: rare hidden soft-soil pockets are rare but severe — exactly what averages and simple chance bounds underweight.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 Sits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work occupies the intersection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03120" y="1828800"/>
            <a:ext cx="4206240" cy="4206240"/>
          </a:xfrm>
          <a:prstGeom prst="ellipse">
            <a:avLst/>
          </a:prstGeom>
          <a:solidFill>
            <a:srgbClr val="B85042">
              <a:alpha val="75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828800"/>
            <a:ext cx="4206240" cy="4206240"/>
          </a:xfrm>
          <a:prstGeom prst="ellipse">
            <a:avLst/>
          </a:prstGeom>
          <a:solidFill>
            <a:srgbClr val="A7BEAE">
              <a:alpha val="85000"/>
            </a:srgbClr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4884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Terramechanics-based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sensing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[5]  — reactive, used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slip begins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CVaR-based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risk-sensitive control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— geometry-only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 (elevation)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507492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3A353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physically-grounded CVaR-SMPC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Landscape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bodies of work, each solving one piece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Rover / off-road MPC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[2] 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MPC as a practical, on-board control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 treated as deterministic or geometry-based, not an uncertain risk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Terramechanics slip-sinkage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Bekker-Wong models linking slip/sinkage/torque to soil cohesion &amp; friction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reactively (after slip) for estimation/traction control — not inside a predictive planner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 &amp; risk-sensitive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[7]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constraints → CVaR as a coherent, convex, tractable risk 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5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theory — not specialized to terramechanics or rover 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Gives us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Leaves out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Closest Prior Work — Moon et al. [9]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Sampling-based MPC with CVaR risk assessment for off-road environments (2025)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A7BEAE">
              <a:alpha val="30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00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recursive CVaR risk map from elevation data, updated as the rover moves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sampling-based (MPPI-style) controller — no differentiable cost or reference trajectory needed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simulation and on a real ground robot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hybrid A* and standard MPC baselines on success rate and smoothness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B85042">
              <a:alpha val="18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00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 is elevation-only — pure geometry, no soil mechanics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slip-sinkage dynamics modeled — the actual mechanism behind entrapment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proprioceptive sensing of the rover's own wheel-soil interaction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reshapes a sampling distribution over geometric risk, not a physically-grounded dynamic model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sensing → soil estimate → tail-risk → control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A7BEAE">
              <a:alpha val="85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288036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Signals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• sinkage • torque • IMU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3332988"/>
            <a:ext cx="256032" cy="237744"/>
          </a:xfrm>
          <a:prstGeom prst="rightArrow">
            <a:avLst/>
          </a:prstGeom>
          <a:solidFill>
            <a:srgbClr val="3A3532"/>
          </a:solidFill>
          <a:ln/>
        </p:spPr>
      </p:sp>
      <p:sp>
        <p:nvSpPr>
          <p:cNvPr id="8" name="Shape 6"/>
          <p:cNvSpPr/>
          <p:nvPr/>
        </p:nvSpPr>
        <p:spPr>
          <a:xfrm>
            <a:off x="2807208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B85042">
              <a:alpha val="85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80360" y="288036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Bekker-Wong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ĉ, φ̂, n̂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91456" y="3332988"/>
            <a:ext cx="256032" cy="237744"/>
          </a:xfrm>
          <a:prstGeom prst="rightArrow">
            <a:avLst/>
          </a:prstGeom>
          <a:solidFill>
            <a:srgbClr val="3A3532"/>
          </a:solidFill>
          <a:ln/>
        </p:spPr>
      </p:sp>
      <p:sp>
        <p:nvSpPr>
          <p:cNvPr id="12" name="Shape 10"/>
          <p:cNvSpPr/>
          <p:nvPr/>
        </p:nvSpPr>
        <p:spPr>
          <a:xfrm>
            <a:off x="5065776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A7BEAE">
              <a:alpha val="85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38928" y="288036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Sinkage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horizon 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50024" y="3332988"/>
            <a:ext cx="256032" cy="237744"/>
          </a:xfrm>
          <a:prstGeom prst="rightArrow">
            <a:avLst/>
          </a:prstGeom>
          <a:solidFill>
            <a:srgbClr val="3A353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24344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B85042">
              <a:alpha val="85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97496" y="288036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CVaR-SMPC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97496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tail severity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08592" y="3332988"/>
            <a:ext cx="256032" cy="237744"/>
          </a:xfrm>
          <a:prstGeom prst="rightArrow">
            <a:avLst/>
          </a:prstGeom>
          <a:solidFill>
            <a:srgbClr val="3A3532"/>
          </a:solidFill>
          <a:ln/>
        </p:spPr>
      </p:sp>
      <p:sp>
        <p:nvSpPr>
          <p:cNvPr id="20" name="Shape 18"/>
          <p:cNvSpPr/>
          <p:nvPr/>
        </p:nvSpPr>
        <p:spPr>
          <a:xfrm>
            <a:off x="9582912" y="27432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A7BEAE">
              <a:alpha val="85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56064" y="2880360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• torque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chain reuses standard CVaR math and standard Bekker-Wong physics — the novelty is the estimator + the coupling architecture connecting them.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463040" y="5257800"/>
            <a:ext cx="9235440" cy="1005840"/>
          </a:xfrm>
          <a:prstGeom prst="roundRect">
            <a:avLst>
              <a:gd name="adj" fmla="val 7273"/>
            </a:avLst>
          </a:prstGeom>
          <a:solidFill>
            <a:srgbClr val="E7E8D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691640" y="5349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novel:  </a:t>
            </a:r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convex reformulation, SMPC structure, Bekker-Wong equations
</a:t>
            </a:r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Novel:  </a:t>
            </a:r>
            <a:pPr indent="0" marL="0">
              <a:buNone/>
            </a:pPr>
            <a:r>
              <a:rPr lang="en-US" sz="130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proprioceptive soil estimator + the CVaR-SMPC coupling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Build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course's three scheduled presentations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0116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31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soil parameters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soil params per patch from published tables. Validate the CVaR-SMPC controller in isolation from the sensing problem.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87368" y="3675888"/>
            <a:ext cx="237744" cy="237744"/>
          </a:xfrm>
          <a:prstGeom prst="rightArrow">
            <a:avLst/>
          </a:prstGeom>
          <a:solidFill>
            <a:srgbClr val="A7BEAE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37860" y="20116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378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LiDAR/camera classification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576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coarse visual terrain classes → parameter ranges. Controller reasons under appearance-only uncertainty — reproduces prior work [9] as a fair baseline.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82128" y="3675888"/>
            <a:ext cx="237744" cy="237744"/>
          </a:xfrm>
          <a:prstGeom prst="rightArrow">
            <a:avLst/>
          </a:prstGeom>
          <a:solidFill>
            <a:srgbClr val="A7BEAE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32620" y="20116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6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926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sensing fused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6576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proprioceptive signals with a recursive online estimator. Soil parameters — and CVaR-bounded risk — update in situ as the rover drives.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Entrapment rate vs. path efficiency, across four controllers, one terrain generator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NMPC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057400" cy="0"/>
          </a:xfrm>
          <a:prstGeom prst="line">
            <a:avLst/>
          </a:prstGeom>
          <a:noFill/>
          <a:ln w="9525">
            <a:solidFill>
              <a:srgbClr val="7A716B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modeling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SMPC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11880" y="2788920"/>
            <a:ext cx="2057400" cy="0"/>
          </a:xfrm>
          <a:prstGeom prst="line">
            <a:avLst/>
          </a:prstGeom>
          <a:noFill/>
          <a:ln w="9525">
            <a:solidFill>
              <a:srgbClr val="7A716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Light-tailed uncertainty only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E7E8D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(LiDAR/camera only)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2057400" cy="0"/>
          </a:xfrm>
          <a:prstGeom prst="line">
            <a:avLst/>
          </a:prstGeom>
          <a:noFill/>
          <a:ln w="9525">
            <a:solidFill>
              <a:srgbClr val="7A716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[9]'s sensing limit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CVaR-SMPC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(ours, Stage 3)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2788920"/>
            <a:ext cx="20574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Physically-grounded tail-risk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59893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Entrapment rate  •  path efficiency  •  mission-completion time  •  safe traversal of visually-ambiguous terrain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7315200" cy="7315200"/>
          </a:xfrm>
          <a:prstGeom prst="ellipse">
            <a:avLst/>
          </a:prstGeom>
          <a:ln w="15875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572000"/>
            <a:ext cx="5852160" cy="5852160"/>
          </a:xfrm>
          <a:prstGeom prst="ellipse">
            <a:avLst/>
          </a:prstGeom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One-Line Pitch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9875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couple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physically-sensed terrain risk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tail-severity-aware (CVaR) predictive control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 combination the literature hasn't made — because appearance-based risk maps can't distinguish safe from unsafe terrain that looks the same, and probability-only risk bounds can't distinguish recoverable from catastrophic failure.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2026-09-05T06:22:40Z</dcterms:created>
  <dcterms:modified xsi:type="dcterms:W3CDTF">2026-09-05T06:22:40Z</dcterms:modified>
</cp:coreProperties>
</file>